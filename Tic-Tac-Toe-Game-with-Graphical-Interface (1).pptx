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Quattrocento Sans"/>
      <p:regular r:id="rId19"/>
      <p:bold r:id="rId20"/>
      <p:italic r:id="rId21"/>
      <p:boldItalic r:id="rId22"/>
    </p:embeddedFont>
    <p:embeddedFont>
      <p:font typeface="Arial Black"/>
      <p:regular r:id="rId23"/>
    </p:embeddedFont>
    <p:embeddedFont>
      <p:font typeface="Barlow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iUWyDtNjMyJqQt4WebqfgvUim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22" Type="http://schemas.openxmlformats.org/officeDocument/2006/relationships/font" Target="fonts/QuattrocentoSans-boldItalic.fntdata"/><Relationship Id="rId21" Type="http://schemas.openxmlformats.org/officeDocument/2006/relationships/font" Target="fonts/QuattrocentoSans-italic.fntdata"/><Relationship Id="rId24" Type="http://schemas.openxmlformats.org/officeDocument/2006/relationships/font" Target="fonts/Barlow-regular.fntdata"/><Relationship Id="rId23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-italic.fntdata"/><Relationship Id="rId25" Type="http://schemas.openxmlformats.org/officeDocument/2006/relationships/font" Target="fonts/Barlow-bold.fntdata"/><Relationship Id="rId28" Type="http://customschemas.google.com/relationships/presentationmetadata" Target="metadata"/><Relationship Id="rId27" Type="http://schemas.openxmlformats.org/officeDocument/2006/relationships/font" Target="fonts/Barlow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QuattrocentoSans-regular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" name="Google Shape;9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7"/>
          <p:cNvSpPr/>
          <p:nvPr/>
        </p:nvSpPr>
        <p:spPr>
          <a:xfrm>
            <a:off x="0" y="0"/>
            <a:ext cx="14630400" cy="8233648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5486400" y="526522"/>
            <a:ext cx="91440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7050"/>
              <a:buFont typeface="Gentium Basic"/>
              <a:buNone/>
            </a:pPr>
            <a:r>
              <a:rPr b="1" i="0" lang="en-US" sz="7050" u="none" cap="none" strike="noStrike">
                <a:solidFill>
                  <a:srgbClr val="9998FF"/>
                </a:solidFill>
                <a:latin typeface="Gentium Basic"/>
                <a:ea typeface="Gentium Basic"/>
                <a:cs typeface="Gentium Basic"/>
                <a:sym typeface="Gentium Basic"/>
              </a:rPr>
              <a:t>Tic Tac Toe Game</a:t>
            </a:r>
            <a:endParaRPr/>
          </a:p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9600"/>
              <a:buFont typeface="Arial"/>
              <a:buNone/>
            </a:pPr>
            <a:r>
              <a:t/>
            </a:r>
            <a:endParaRPr b="0" i="0" sz="9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5619875" y="5752725"/>
            <a:ext cx="8943300" cy="22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19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RESENTERS </a:t>
            </a:r>
            <a:r>
              <a:rPr b="1" i="0" lang="en-US" sz="3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: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   </a:t>
            </a:r>
            <a:r>
              <a:rPr b="1" i="0" lang="en-US" sz="3600" u="none" cap="none" strike="noStrike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r>
              <a:rPr b="1" i="0" lang="en-US" sz="2800" u="none" cap="none" strike="noStrike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IMAN </a:t>
            </a:r>
            <a:r>
              <a:rPr b="1" i="0" lang="en-US" sz="3600" u="none" cap="none" strike="noStrike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M</a:t>
            </a:r>
            <a:r>
              <a:rPr b="1" i="0" lang="en-US" sz="2800" u="none" cap="none" strike="noStrike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AHARJA</a:t>
            </a:r>
            <a:r>
              <a:rPr b="1" i="0" lang="en-US" sz="3200" u="none" cap="none" strike="noStrike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endParaRPr b="1" i="1" sz="3200" u="none" cap="none" strike="noStrike">
              <a:solidFill>
                <a:srgbClr val="D8D8D8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3200400" marR="0" rtl="0" algn="ctr">
              <a:lnSpc>
                <a:spcPct val="819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1" lang="en-US" sz="2800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1" lang="en-US" sz="2500">
                <a:solidFill>
                  <a:srgbClr val="BFBFBF"/>
                </a:solidFill>
                <a:latin typeface="Arial Black"/>
                <a:ea typeface="Arial Black"/>
                <a:cs typeface="Arial Black"/>
                <a:sym typeface="Arial Black"/>
              </a:rPr>
              <a:t>(SEC080BEI015)</a:t>
            </a:r>
            <a:endParaRPr i="1" sz="1100">
              <a:solidFill>
                <a:srgbClr val="BFBFBF"/>
              </a:solidFill>
            </a:endParaRPr>
          </a:p>
          <a:p>
            <a:pPr indent="0" lvl="1" marL="457200" marR="0" rtl="0" algn="ctr">
              <a:lnSpc>
                <a:spcPct val="92187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		      			</a:t>
            </a:r>
            <a:r>
              <a:rPr b="1" lang="en-US" sz="2400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r>
              <a:rPr b="1" i="0" lang="en-US" sz="3800" u="none" cap="none" strike="noStrike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b="1" i="0" lang="en-US" sz="3000" u="none" cap="none" strike="noStrike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UFAL </a:t>
            </a:r>
            <a:r>
              <a:rPr b="1" i="0" lang="en-US" sz="3400" u="none" cap="none" strike="noStrike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KC</a:t>
            </a:r>
            <a:endParaRPr b="1" i="0" sz="3400" u="none" cap="none" strike="noStrike">
              <a:solidFill>
                <a:srgbClr val="D8D8D8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457200" lvl="1" marL="2743200" marR="0" rtl="0" algn="ctr">
              <a:lnSpc>
                <a:spcPct val="92187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r>
              <a:rPr b="1" i="1" lang="en-US" sz="2500">
                <a:solidFill>
                  <a:srgbClr val="BFBFBF"/>
                </a:solidFill>
                <a:latin typeface="Arial Black"/>
                <a:ea typeface="Arial Black"/>
                <a:cs typeface="Arial Black"/>
                <a:sym typeface="Arial Black"/>
              </a:rPr>
              <a:t>(SEC080BEI017)</a:t>
            </a:r>
            <a:endParaRPr i="1" sz="1100">
              <a:solidFill>
                <a:srgbClr val="BFBFBF"/>
              </a:solidFill>
            </a:endParaRPr>
          </a:p>
          <a:p>
            <a:pPr indent="0" lvl="1" marL="457200" marR="0" rtl="0" algn="ctr">
              <a:lnSpc>
                <a:spcPct val="105357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8D8D8"/>
                </a:solidFill>
                <a:latin typeface="Arial Black"/>
                <a:ea typeface="Arial Black"/>
                <a:cs typeface="Arial Black"/>
                <a:sym typeface="Arial Black"/>
              </a:rPr>
              <a:t>		     </a:t>
            </a:r>
            <a:endParaRPr b="1" i="0" sz="2800" u="none" cap="none" strike="noStrike">
              <a:solidFill>
                <a:srgbClr val="D8D8D8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140476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2782349" y="7700211"/>
            <a:ext cx="1780674" cy="452387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5619875" y="3841600"/>
            <a:ext cx="904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Sagarmatha Engineering College</a:t>
            </a:r>
            <a:endParaRPr b="1" sz="42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486400" y="1704675"/>
            <a:ext cx="91740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9600"/>
              <a:buFont typeface="Arial"/>
              <a:buNone/>
            </a:pPr>
            <a:r>
              <a:rPr b="1" lang="en-US" sz="9600">
                <a:solidFill>
                  <a:srgbClr val="9998FF"/>
                </a:solidFill>
              </a:rPr>
              <a:t>C++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305812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814983" y="3552825"/>
            <a:ext cx="6128147" cy="765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5400"/>
              <a:buFont typeface="Barlow"/>
              <a:buNone/>
            </a:pPr>
            <a:r>
              <a:rPr b="1" lang="en-US" sz="5400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Libraries Used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14983" y="4929902"/>
            <a:ext cx="523875" cy="523875"/>
          </a:xfrm>
          <a:prstGeom prst="roundRect">
            <a:avLst>
              <a:gd fmla="val 40007" name="adj"/>
            </a:avLst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1011793" y="5008007"/>
            <a:ext cx="130254" cy="36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850"/>
              <a:buFont typeface="Barlow"/>
              <a:buNone/>
            </a:pPr>
            <a:r>
              <a:rPr b="1" lang="en-US" sz="285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571625" y="4929902"/>
            <a:ext cx="306407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iostream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571625" y="5452586"/>
            <a:ext cx="5627251" cy="372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800"/>
              <a:buFont typeface="Montserrat"/>
              <a:buNone/>
            </a:pPr>
            <a:r>
              <a:rPr lang="en-US" sz="18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Standard input/output stream.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431643" y="4929902"/>
            <a:ext cx="523875" cy="523875"/>
          </a:xfrm>
          <a:prstGeom prst="roundRect">
            <a:avLst>
              <a:gd fmla="val 40007" name="adj"/>
            </a:avLst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7590592" y="5008007"/>
            <a:ext cx="205978" cy="36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850"/>
              <a:buFont typeface="Barlow"/>
              <a:buNone/>
            </a:pPr>
            <a:r>
              <a:rPr b="1" lang="en-US" sz="285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188285" y="4929902"/>
            <a:ext cx="306407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stdio.h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8188285" y="5452586"/>
            <a:ext cx="5627251" cy="372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800"/>
              <a:buFont typeface="Montserrat"/>
              <a:buNone/>
            </a:pPr>
            <a:r>
              <a:rPr lang="en-US" sz="18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Standard input/output functions.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14983" y="6319838"/>
            <a:ext cx="523875" cy="523875"/>
          </a:xfrm>
          <a:prstGeom prst="roundRect">
            <a:avLst>
              <a:gd fmla="val 40007" name="adj"/>
            </a:avLst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977622" y="6397943"/>
            <a:ext cx="198596" cy="36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850"/>
              <a:buFont typeface="Barlow"/>
              <a:buNone/>
            </a:pPr>
            <a:r>
              <a:rPr b="1" lang="en-US" sz="285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1571625" y="6319838"/>
            <a:ext cx="306407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stdlib.h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1571625" y="6842522"/>
            <a:ext cx="5627251" cy="745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800"/>
              <a:buFont typeface="Montserrat"/>
              <a:buNone/>
            </a:pPr>
            <a:r>
              <a:rPr lang="en-US" sz="18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Standard utility functions like memory allocation.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431643" y="6319838"/>
            <a:ext cx="523875" cy="523875"/>
          </a:xfrm>
          <a:prstGeom prst="roundRect">
            <a:avLst>
              <a:gd fmla="val 40007" name="adj"/>
            </a:avLst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7582257" y="6397943"/>
            <a:ext cx="222528" cy="36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850"/>
              <a:buFont typeface="Barlow"/>
              <a:buNone/>
            </a:pPr>
            <a:r>
              <a:rPr b="1" lang="en-US" sz="285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4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8188285" y="6319838"/>
            <a:ext cx="306407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graphics.h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8188285" y="6842522"/>
            <a:ext cx="5627251" cy="745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800"/>
              <a:buFont typeface="Montserrat"/>
              <a:buNone/>
            </a:pPr>
            <a:r>
              <a:rPr lang="en-US" sz="18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Provides graphics functions for drawing shapes and text.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12782349" y="7700211"/>
            <a:ext cx="1780674" cy="452387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864037" y="581262"/>
            <a:ext cx="6497003" cy="81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592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5400"/>
              <a:buFont typeface="Barlow"/>
              <a:buNone/>
            </a:pPr>
            <a:r>
              <a:rPr b="1" lang="en-US" sz="5400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Graphics Part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64037" y="1831219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2800"/>
              <a:buFont typeface="Barlow"/>
              <a:buNone/>
            </a:pPr>
            <a:r>
              <a:rPr b="1" lang="en-US" sz="2800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design(); Function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64037" y="2445538"/>
            <a:ext cx="3898821" cy="194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User-defined function.</a:t>
            </a:r>
            <a:endParaRPr/>
          </a:p>
          <a:p>
            <a:pPr indent="-342900" lvl="0" marL="34290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Draws the initial layout, including the grid and title.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64037" y="4191442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2800"/>
              <a:buFont typeface="Barlow"/>
              <a:buNone/>
            </a:pPr>
            <a:r>
              <a:rPr b="1" lang="en-US" sz="2800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Graphics Functions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89465" y="4805761"/>
            <a:ext cx="3503890" cy="876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attrocento Sans"/>
              <a:buChar char="•"/>
            </a:pPr>
            <a:r>
              <a:rPr b="1" lang="en-US" sz="2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settextstyle(int, int , int):  </a:t>
            </a:r>
            <a:r>
              <a:rPr lang="en-US" sz="20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Sets text style.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989464" y="5682180"/>
            <a:ext cx="3934635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attrocento Sans"/>
              <a:buChar char="•"/>
            </a:pPr>
            <a:r>
              <a:rPr b="1" lang="en-US" sz="2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outtextxy(x, y, “text”): </a:t>
            </a:r>
            <a:r>
              <a:rPr lang="en-US" sz="20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Displays text at coordinates.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89465" y="6570392"/>
            <a:ext cx="3503890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attrocento Sans"/>
              <a:buChar char="•"/>
            </a:pPr>
            <a:r>
              <a:rPr b="1" lang="en-US" sz="2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line(x1, y1, x2, y2):</a:t>
            </a:r>
            <a:endParaRPr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    Draws lines for the grid.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736789" y="1708797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2800"/>
              <a:buFont typeface="Barlow"/>
              <a:buNone/>
            </a:pPr>
            <a:r>
              <a:rPr b="1" lang="en-US" sz="2800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Mouse Interaction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736789" y="2361616"/>
            <a:ext cx="3898821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000"/>
              <a:buFont typeface="Montserrat"/>
              <a:buNone/>
            </a:pPr>
            <a:r>
              <a:rPr lang="en-US" sz="20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Captured using GetAsyncKeyState() and GetCursorPos() to detect clicks.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2782349" y="7700211"/>
            <a:ext cx="1780674" cy="452387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1141" y="414683"/>
            <a:ext cx="4715543" cy="7358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3"/>
          <p:cNvCxnSpPr/>
          <p:nvPr/>
        </p:nvCxnSpPr>
        <p:spPr>
          <a:xfrm rot="10800000">
            <a:off x="9597110" y="731519"/>
            <a:ext cx="0" cy="7016817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9731141" y="8051532"/>
            <a:ext cx="4715543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3"/>
          <p:cNvSpPr txBox="1"/>
          <p:nvPr/>
        </p:nvSpPr>
        <p:spPr>
          <a:xfrm>
            <a:off x="11852429" y="7748336"/>
            <a:ext cx="62636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 rot="-5400000">
            <a:off x="9108888" y="3865347"/>
            <a:ext cx="62636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600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422139" y="5041734"/>
            <a:ext cx="3744227" cy="1607173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 main(){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initwindow(400,600,"Tic Tac Toe");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….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closegraph();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6680" y="264223"/>
            <a:ext cx="7000442" cy="510843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678408" y="237400"/>
            <a:ext cx="6182201" cy="772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850"/>
              <a:buFont typeface="Barlow"/>
              <a:buNone/>
            </a:pPr>
            <a:r>
              <a:rPr b="1" lang="en-US" sz="4850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Function design();</a:t>
            </a:r>
            <a:endParaRPr sz="4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17706" y="5559819"/>
            <a:ext cx="3091101" cy="386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Functions Used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17706" y="6087028"/>
            <a:ext cx="3702248" cy="19251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800"/>
              <a:buFont typeface="Montserrat"/>
              <a:buNone/>
            </a:pPr>
            <a:r>
              <a:rPr lang="en-US" sz="18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line() takes 4 coordinates as parameter.(starting x, y and ending x, y)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800"/>
              <a:buFont typeface="Montserrat"/>
              <a:buNone/>
            </a:pPr>
            <a:r>
              <a:rPr lang="en-US" sz="18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outtextxy() prints text in desired coordinate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924686" y="5559819"/>
            <a:ext cx="3091101" cy="386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How it Works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924686" y="6087028"/>
            <a:ext cx="3702248" cy="751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800"/>
              <a:buFont typeface="Montserrat"/>
              <a:buNone/>
            </a:pPr>
            <a:r>
              <a:rPr lang="en-US" sz="18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Sets text style, draws grid lines, and displays the title.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2782349" y="7700211"/>
            <a:ext cx="1780674" cy="452387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4">
            <a:alphaModFix/>
          </a:blip>
          <a:srcRect b="16612" l="8244" r="10536" t="32632"/>
          <a:stretch/>
        </p:blipFill>
        <p:spPr>
          <a:xfrm>
            <a:off x="1594345" y="1501737"/>
            <a:ext cx="3330341" cy="32473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4"/>
          <p:cNvCxnSpPr/>
          <p:nvPr/>
        </p:nvCxnSpPr>
        <p:spPr>
          <a:xfrm>
            <a:off x="2065982" y="1759415"/>
            <a:ext cx="2396691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4"/>
          <p:cNvSpPr txBox="1"/>
          <p:nvPr/>
        </p:nvSpPr>
        <p:spPr>
          <a:xfrm>
            <a:off x="2990649" y="1463237"/>
            <a:ext cx="750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4"/>
          <p:cNvCxnSpPr/>
          <p:nvPr/>
        </p:nvCxnSpPr>
        <p:spPr>
          <a:xfrm rot="5400000">
            <a:off x="3507762" y="3172725"/>
            <a:ext cx="2396691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4"/>
          <p:cNvSpPr txBox="1"/>
          <p:nvPr/>
        </p:nvSpPr>
        <p:spPr>
          <a:xfrm rot="5400000">
            <a:off x="4432429" y="2876547"/>
            <a:ext cx="750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2038508" y="3462451"/>
            <a:ext cx="815605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4"/>
          <p:cNvSpPr txBox="1"/>
          <p:nvPr/>
        </p:nvSpPr>
        <p:spPr>
          <a:xfrm>
            <a:off x="2185034" y="3115811"/>
            <a:ext cx="5610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 rot="5400000">
            <a:off x="2626317" y="4035857"/>
            <a:ext cx="815605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 rot="5400000">
            <a:off x="2907598" y="3977976"/>
            <a:ext cx="5610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766167" y="684560"/>
            <a:ext cx="7581662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55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500"/>
              <a:buFont typeface="Barlow"/>
              <a:buNone/>
            </a:pPr>
            <a:r>
              <a:rPr b="1" lang="en-US" sz="4500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Function dis(int turn, int p)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667" y="1540396"/>
            <a:ext cx="1094542" cy="175129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2073464" y="1816983"/>
            <a:ext cx="2880360" cy="359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800"/>
              <a:buFont typeface="Barlow"/>
              <a:buNone/>
            </a:pPr>
            <a:r>
              <a:rPr b="1" lang="en-US" sz="28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Purpose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073464" y="2250485"/>
            <a:ext cx="6188869" cy="350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lang="en-US" sz="17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Displays 'X' or 'O' on the board.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667" y="2829678"/>
            <a:ext cx="1094542" cy="175129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2073464" y="3106264"/>
            <a:ext cx="2880360" cy="359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800"/>
              <a:buFont typeface="Barlow"/>
              <a:buNone/>
            </a:pPr>
            <a:r>
              <a:rPr b="1" lang="en-US" sz="28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Logic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073464" y="3539766"/>
            <a:ext cx="6188869" cy="350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lang="en-US" sz="17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Determines mark based on turn and position (p).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667" y="4061204"/>
            <a:ext cx="1094542" cy="175129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2073464" y="4337791"/>
            <a:ext cx="2880360" cy="359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800"/>
              <a:buFont typeface="Barlow"/>
              <a:buNone/>
            </a:pPr>
            <a:r>
              <a:rPr b="1" lang="en-US" sz="28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How it Works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073464" y="4771292"/>
            <a:ext cx="6188869" cy="192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lang="en-US" sz="17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If turn 1, it’s ‘X’ turn else it’s ‘O’ turn.</a:t>
            </a:r>
            <a:endParaRPr/>
          </a:p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lang="en-US" sz="17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P is position in grid ie. 1,2,3…or 9.</a:t>
            </a:r>
            <a:endParaRPr/>
          </a:p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lang="en-US" sz="17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Writes ‘X’ or ‘O’ in that position by centering and upscaling it.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364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6238399" y="590788"/>
            <a:ext cx="5654516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450"/>
              <a:buFont typeface="Barlow"/>
              <a:buNone/>
            </a:pPr>
            <a:r>
              <a:rPr b="1" lang="en-US" sz="4450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Mouse Interaction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399" y="1619845"/>
            <a:ext cx="537091" cy="53709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7268302" y="1530329"/>
            <a:ext cx="3242485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200"/>
              <a:buFont typeface="Barlow"/>
              <a:buNone/>
            </a:pPr>
            <a:r>
              <a:rPr b="1" lang="en-US" sz="22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GetAsyncKeyState()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7268302" y="2012532"/>
            <a:ext cx="7005963" cy="343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Detects mouse clicks using VK_LBUTTON.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399" y="2997059"/>
            <a:ext cx="537091" cy="537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7268302" y="2820370"/>
            <a:ext cx="2827258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200"/>
              <a:buFont typeface="Barlow"/>
              <a:buNone/>
            </a:pPr>
            <a:r>
              <a:rPr b="1" lang="en-US" sz="22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GetCursorPos()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398" y="5378253"/>
            <a:ext cx="537091" cy="537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7268302" y="5242925"/>
            <a:ext cx="2827258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200"/>
              <a:buFont typeface="Barlow"/>
              <a:buNone/>
            </a:pPr>
            <a:r>
              <a:rPr b="1" lang="en-US" sz="22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Mapping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7268302" y="5725129"/>
            <a:ext cx="6832709" cy="733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650"/>
              <a:buFont typeface="Montserrat"/>
              <a:buNone/>
            </a:pPr>
            <a:r>
              <a:rPr lang="en-US" sz="165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Checks if x y coordinate lies in any empty cell.</a:t>
            </a:r>
            <a:endParaRPr sz="1650">
              <a:solidFill>
                <a:srgbClr val="EEEFF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650"/>
              <a:buFont typeface="Montserrat"/>
              <a:buNone/>
            </a:pPr>
            <a:r>
              <a:rPr lang="en-US" sz="165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Maps position to grid cells and updates game state.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2782349" y="7700211"/>
            <a:ext cx="1780674" cy="452387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0771283" y="2912460"/>
            <a:ext cx="3744227" cy="2134084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while(true){           if(GetAsyncKeyState(VK_LBUTTON))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GetCursorPos(&amp;pos);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long X=mousex();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long Y=mousey();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….}}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7201458" y="3191354"/>
            <a:ext cx="3540869" cy="210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Retrieves cursor position.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mousex() and mousey() gives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x and y coordinates of the mouse pointer when it was clicked.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6350437" y="2604254"/>
            <a:ext cx="6497003" cy="81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09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5100"/>
              <a:buFont typeface="Barlow"/>
              <a:buNone/>
            </a:pPr>
            <a:r>
              <a:rPr b="1" lang="en-US" sz="5100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Logic Part</a:t>
            </a:r>
            <a:endParaRPr sz="5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350437" y="3786664"/>
            <a:ext cx="7415927" cy="1838563"/>
          </a:xfrm>
          <a:prstGeom prst="roundRect">
            <a:avLst>
              <a:gd fmla="val 12085" name="adj"/>
            </a:avLst>
          </a:prstGeom>
          <a:noFill/>
          <a:ln cap="flat" cmpd="sng" w="152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365677" y="3801904"/>
            <a:ext cx="7385447" cy="70651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6612493" y="3957638"/>
            <a:ext cx="3195280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00"/>
              <a:buFont typeface="Montserrat"/>
              <a:buNone/>
            </a:pPr>
            <a:r>
              <a:rPr lang="en-US" sz="19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0309027" y="3957638"/>
            <a:ext cx="3195280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00"/>
              <a:buFont typeface="Montserrat"/>
              <a:buNone/>
            </a:pPr>
            <a:r>
              <a:rPr lang="en-US" sz="19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Purpose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365677" y="4508421"/>
            <a:ext cx="7385447" cy="110156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612493" y="4664154"/>
            <a:ext cx="3195280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00"/>
              <a:buFont typeface="Montserrat"/>
              <a:buNone/>
            </a:pPr>
            <a:r>
              <a:rPr lang="en-US" sz="19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\`fun(char \*a)\`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0309027" y="4664154"/>
            <a:ext cx="3195280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00"/>
              <a:buFont typeface="Montserrat"/>
              <a:buNone/>
            </a:pPr>
            <a:r>
              <a:rPr lang="en-US" sz="19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Checks for a win, draw, or ongoing game.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2782349" y="7709836"/>
            <a:ext cx="1780674" cy="452387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829508" y="653534"/>
            <a:ext cx="7484983" cy="1559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900"/>
              <a:buFont typeface="Barlow"/>
              <a:buNone/>
            </a:pPr>
            <a:r>
              <a:rPr b="1" lang="en-US" sz="4900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Computer's Defense Strategy</a:t>
            </a:r>
            <a:endParaRPr sz="4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169670" y="2568178"/>
            <a:ext cx="30480" cy="5007888"/>
          </a:xfrm>
          <a:prstGeom prst="roundRect">
            <a:avLst>
              <a:gd fmla="val 699840" name="adj"/>
            </a:avLst>
          </a:prstGeom>
          <a:solidFill>
            <a:srgbClr val="60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1421011" y="3086100"/>
            <a:ext cx="829508" cy="30480"/>
          </a:xfrm>
          <a:prstGeom prst="roundRect">
            <a:avLst>
              <a:gd fmla="val 699840" name="adj"/>
            </a:avLst>
          </a:prstGeom>
          <a:solidFill>
            <a:srgbClr val="60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918329" y="2834759"/>
            <a:ext cx="533162" cy="533162"/>
          </a:xfrm>
          <a:prstGeom prst="roundRect">
            <a:avLst>
              <a:gd fmla="val 40009" name="adj"/>
            </a:avLst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118592" y="2914174"/>
            <a:ext cx="132517" cy="37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900"/>
              <a:buFont typeface="Barlow"/>
              <a:buNone/>
            </a:pPr>
            <a:r>
              <a:rPr b="1" lang="en-US" sz="29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488406" y="2805113"/>
            <a:ext cx="3118485" cy="389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450"/>
              <a:buFont typeface="Barlow"/>
              <a:buNone/>
            </a:pPr>
            <a:r>
              <a:rPr b="1" lang="en-US" sz="245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Player's Move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2488406" y="3336965"/>
            <a:ext cx="5826085" cy="758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850"/>
              <a:buFont typeface="Montserrat"/>
              <a:buNone/>
            </a:pPr>
            <a:r>
              <a:rPr lang="en-US" sz="185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The computer checks if the player has two in a row.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421011" y="5087183"/>
            <a:ext cx="829508" cy="30480"/>
          </a:xfrm>
          <a:prstGeom prst="roundRect">
            <a:avLst>
              <a:gd fmla="val 699840" name="adj"/>
            </a:avLst>
          </a:prstGeom>
          <a:solidFill>
            <a:srgbClr val="60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918329" y="4835843"/>
            <a:ext cx="533162" cy="533162"/>
          </a:xfrm>
          <a:prstGeom prst="roundRect">
            <a:avLst>
              <a:gd fmla="val 40009" name="adj"/>
            </a:avLst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1080016" y="4915257"/>
            <a:ext cx="209669" cy="37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900"/>
              <a:buFont typeface="Barlow"/>
              <a:buNone/>
            </a:pPr>
            <a:r>
              <a:rPr b="1" lang="en-US" sz="29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488406" y="4806196"/>
            <a:ext cx="3118485" cy="389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450"/>
              <a:buFont typeface="Barlow"/>
              <a:buNone/>
            </a:pPr>
            <a:r>
              <a:rPr b="1" lang="en-US" sz="245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Blocking Move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488406" y="5338048"/>
            <a:ext cx="5826085" cy="379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850"/>
              <a:buFont typeface="Montserrat"/>
              <a:buNone/>
            </a:pPr>
            <a:r>
              <a:rPr lang="en-US" sz="185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If found, the computer places its 'O' to block.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421011" y="6709053"/>
            <a:ext cx="829508" cy="30480"/>
          </a:xfrm>
          <a:prstGeom prst="roundRect">
            <a:avLst>
              <a:gd fmla="val 699840" name="adj"/>
            </a:avLst>
          </a:prstGeom>
          <a:solidFill>
            <a:srgbClr val="60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918329" y="6457712"/>
            <a:ext cx="533162" cy="533162"/>
          </a:xfrm>
          <a:prstGeom prst="roundRect">
            <a:avLst>
              <a:gd fmla="val 40009" name="adj"/>
            </a:avLst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083826" y="6537127"/>
            <a:ext cx="202168" cy="37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900"/>
              <a:buFont typeface="Barlow"/>
              <a:buNone/>
            </a:pPr>
            <a:r>
              <a:rPr b="1" lang="en-US" sz="29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488406" y="6428065"/>
            <a:ext cx="3118485" cy="389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450"/>
              <a:buFont typeface="Barlow"/>
              <a:buNone/>
            </a:pPr>
            <a:r>
              <a:rPr b="1" lang="en-US" sz="245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Code Snippet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488406" y="6959917"/>
            <a:ext cx="5826085" cy="379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850"/>
              <a:buFont typeface="Montserrat"/>
              <a:buNone/>
            </a:pPr>
            <a:r>
              <a:rPr lang="en-US" sz="185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\`if(cnt\[i\]==2 &amp;&amp; p\[i\]!=-1)\`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1" name="Google Shape;2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793552" y="1176457"/>
            <a:ext cx="7354610" cy="745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650"/>
              <a:buFont typeface="Barlow"/>
              <a:buNone/>
            </a:pPr>
            <a:r>
              <a:rPr b="1" lang="en-US" sz="4650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Computer's Attack Strategy</a:t>
            </a:r>
            <a:endParaRPr sz="4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118354" y="2262188"/>
            <a:ext cx="30480" cy="4790837"/>
          </a:xfrm>
          <a:prstGeom prst="roundRect">
            <a:avLst>
              <a:gd fmla="val 669489" name="adj"/>
            </a:avLst>
          </a:prstGeom>
          <a:solidFill>
            <a:srgbClr val="60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1358146" y="2757011"/>
            <a:ext cx="793552" cy="30480"/>
          </a:xfrm>
          <a:prstGeom prst="roundRect">
            <a:avLst>
              <a:gd fmla="val 669489" name="adj"/>
            </a:avLst>
          </a:prstGeom>
          <a:solidFill>
            <a:srgbClr val="60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878562" y="2517219"/>
            <a:ext cx="510064" cy="510064"/>
          </a:xfrm>
          <a:prstGeom prst="roundRect">
            <a:avLst>
              <a:gd fmla="val 40007" name="adj"/>
            </a:avLst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1070134" y="2593181"/>
            <a:ext cx="126802" cy="358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800"/>
              <a:buFont typeface="Barlow"/>
              <a:buNone/>
            </a:pPr>
            <a:r>
              <a:rPr b="1" lang="en-US" sz="28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2380536" y="2488883"/>
            <a:ext cx="2983230" cy="37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300"/>
              <a:buFont typeface="Barlow"/>
              <a:buNone/>
            </a:pPr>
            <a:r>
              <a:rPr b="1" lang="en-US" sz="23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Analyzing Moves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380536" y="2997756"/>
            <a:ext cx="5969913" cy="72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50"/>
              <a:buFont typeface="Montserrat"/>
              <a:buNone/>
            </a:pPr>
            <a:r>
              <a:rPr lang="en-US" sz="175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The computer analyzes potential moves to create a winning line.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358146" y="4671298"/>
            <a:ext cx="793552" cy="30480"/>
          </a:xfrm>
          <a:prstGeom prst="roundRect">
            <a:avLst>
              <a:gd fmla="val 669489" name="adj"/>
            </a:avLst>
          </a:prstGeom>
          <a:solidFill>
            <a:srgbClr val="60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878562" y="4431506"/>
            <a:ext cx="510064" cy="510064"/>
          </a:xfrm>
          <a:prstGeom prst="roundRect">
            <a:avLst>
              <a:gd fmla="val 40007" name="adj"/>
            </a:avLst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033343" y="4507468"/>
            <a:ext cx="200501" cy="358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800"/>
              <a:buFont typeface="Barlow"/>
              <a:buNone/>
            </a:pPr>
            <a:r>
              <a:rPr b="1" lang="en-US" sz="28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2380536" y="4403169"/>
            <a:ext cx="2983230" cy="37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300"/>
              <a:buFont typeface="Barlow"/>
              <a:buNone/>
            </a:pPr>
            <a:r>
              <a:rPr b="1" lang="en-US" sz="23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Winning Move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380536" y="4912043"/>
            <a:ext cx="5969913" cy="36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50"/>
              <a:buFont typeface="Montserrat"/>
              <a:buNone/>
            </a:pPr>
            <a:r>
              <a:rPr lang="en-US" sz="175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If a winning move is possible, it places an 'O' to win.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1358146" y="6222921"/>
            <a:ext cx="793552" cy="30480"/>
          </a:xfrm>
          <a:prstGeom prst="roundRect">
            <a:avLst>
              <a:gd fmla="val 669489" name="adj"/>
            </a:avLst>
          </a:prstGeom>
          <a:solidFill>
            <a:srgbClr val="606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878562" y="5983129"/>
            <a:ext cx="510064" cy="510064"/>
          </a:xfrm>
          <a:prstGeom prst="roundRect">
            <a:avLst>
              <a:gd fmla="val 40007" name="adj"/>
            </a:avLst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1036915" y="6059091"/>
            <a:ext cx="193358" cy="358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800"/>
              <a:buFont typeface="Barlow"/>
              <a:buNone/>
            </a:pPr>
            <a:r>
              <a:rPr b="1" lang="en-US" sz="28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2380536" y="5954792"/>
            <a:ext cx="2983230" cy="372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300"/>
              <a:buFont typeface="Barlow"/>
              <a:buNone/>
            </a:pPr>
            <a:r>
              <a:rPr b="1" lang="en-US" sz="230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Code Snippet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380536" y="6463665"/>
            <a:ext cx="5969913" cy="36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50"/>
              <a:buFont typeface="Montserrat"/>
              <a:buNone/>
            </a:pPr>
            <a:r>
              <a:rPr lang="en-US" sz="175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\`if(a\[i\]=='O') { cnt\[i/3\]++; ... }\`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864037" y="699135"/>
            <a:ext cx="8086963" cy="81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09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5100"/>
              <a:buFont typeface="Barlow"/>
              <a:buNone/>
            </a:pPr>
            <a:r>
              <a:rPr b="1" lang="en-US" sz="5100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Checking Win, Draw, or Loss</a:t>
            </a:r>
            <a:endParaRPr sz="5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4037" y="2005013"/>
            <a:ext cx="6266021" cy="387262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/>
          <p:nvPr/>
        </p:nvSpPr>
        <p:spPr>
          <a:xfrm>
            <a:off x="864037" y="6186249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550"/>
              <a:buFont typeface="Barlow"/>
              <a:buNone/>
            </a:pPr>
            <a:r>
              <a:rPr b="1" lang="en-US" sz="255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Player 1 Win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64037" y="6740366"/>
            <a:ext cx="6266021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00"/>
              <a:buFont typeface="Montserrat"/>
              <a:buNone/>
            </a:pPr>
            <a:r>
              <a:rPr lang="en-US" sz="19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The function returns: \`1\` for player 1 win.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342" y="2005013"/>
            <a:ext cx="6266021" cy="387262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0"/>
          <p:cNvSpPr/>
          <p:nvPr/>
        </p:nvSpPr>
        <p:spPr>
          <a:xfrm>
            <a:off x="7500342" y="6186249"/>
            <a:ext cx="3248501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2550"/>
              <a:buFont typeface="Barlow"/>
              <a:buNone/>
            </a:pPr>
            <a:r>
              <a:rPr b="1" lang="en-US" sz="2550">
                <a:solidFill>
                  <a:srgbClr val="EEEFF5"/>
                </a:solidFill>
                <a:latin typeface="Barlow"/>
                <a:ea typeface="Barlow"/>
                <a:cs typeface="Barlow"/>
                <a:sym typeface="Barlow"/>
              </a:rPr>
              <a:t>Draw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7500342" y="6740366"/>
            <a:ext cx="6266021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900"/>
              <a:buFont typeface="Montserrat"/>
              <a:buNone/>
            </a:pPr>
            <a:r>
              <a:rPr lang="en-US" sz="1900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The function returns: \`0\` for ongoing, \`1\` for player 1 win, \`2\` for player 2 win.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2782349" y="7700211"/>
            <a:ext cx="1780674" cy="452387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2024-09-02T16:20:46Z</dcterms:created>
  <dc:creator>PptxGenJS</dc:creator>
</cp:coreProperties>
</file>